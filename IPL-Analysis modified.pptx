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</p:sldIdLst>
  <p:sldSz cx="12192000" cy="6858000"/>
  <p:notesSz cx="6858000" cy="12192000"/>
  <p:embeddedFontLs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  <p:embeddedFont>
      <p:font typeface="Petrona Bold" panose="020B0604020202020204" charset="0"/>
      <p:regular r:id="rId22"/>
    </p:embeddedFont>
    <p:embeddedFont>
      <p:font typeface="Wingdings 3" panose="05040102010807070707" pitchFamily="18" charset="2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868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AC1E2-B7DB-DB3B-B107-2297821B1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BA779-5D9D-90CF-A0DF-80EA4D5B3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2C419-14C5-8E82-FC8D-41F1CDD52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972A4-AAC5-34DE-3AA7-205B6E8B8B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41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044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4569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7741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11878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58545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60823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16790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087210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05349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52347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85263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534945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5849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76351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33350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326099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611562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119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image" Target="../media/image7.png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4196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0775"/>
            <a:ext cx="5571291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IPL Analysis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329445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data-driven exploration of match patterns, player performance, toss impact, and venue insights across IPL seasons.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111923"/>
            <a:ext cx="2348251" cy="355203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168577"/>
            <a:ext cx="273102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KIRAN MIRJE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4580"/>
            <a:ext cx="5914183" cy="55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 &amp; Objectives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58392"/>
            <a:ext cx="6227408" cy="35289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2189" y="1705471"/>
            <a:ext cx="2842348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002189" y="2137569"/>
            <a:ext cx="3534282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generates vast amounts of match and player data every season. Without structured analysis, identifying performance trends, player effectiveness, venue impact, and match-winning factors becomes extremely difficult.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02189" y="3842048"/>
            <a:ext cx="2842348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Focus Areas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002189" y="4274145"/>
            <a:ext cx="3534282" cy="176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Performance Analysis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Performance Analysis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Toss Impact Analysis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Venue-wise Evaluation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Season-wise Trends &amp; Match Result Patterns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069" y="289272"/>
            <a:ext cx="2431462" cy="108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Architecture: ER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838" y="2386905"/>
            <a:ext cx="3600757" cy="948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analysis is built on a relational database schema connecting five core entities. This structure enables seamless joins across matches, players, teams, venues, and statistics — forming the backbone of every query in this study.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730" y="514548"/>
            <a:ext cx="6180394" cy="38615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838" y="4719439"/>
            <a:ext cx="2652646" cy="762099"/>
          </a:xfrm>
          <a:prstGeom prst="roundRect">
            <a:avLst>
              <a:gd name="adj" fmla="val 756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4503" y="4863108"/>
            <a:ext cx="1802462" cy="225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Matches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4503" y="5148263"/>
            <a:ext cx="2365316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match records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93196" y="4719439"/>
            <a:ext cx="2652745" cy="762099"/>
          </a:xfrm>
          <a:prstGeom prst="roundRect">
            <a:avLst>
              <a:gd name="adj" fmla="val 756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36862" y="4863108"/>
            <a:ext cx="1802462" cy="225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Players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536862" y="5148263"/>
            <a:ext cx="2365415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master data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45654" y="4719439"/>
            <a:ext cx="2652745" cy="762099"/>
          </a:xfrm>
          <a:prstGeom prst="roundRect">
            <a:avLst>
              <a:gd name="adj" fmla="val 756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89319" y="4863108"/>
            <a:ext cx="1802462" cy="225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Teams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89319" y="5148263"/>
            <a:ext cx="2365415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Franchise details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898112" y="4719439"/>
            <a:ext cx="2652745" cy="762099"/>
          </a:xfrm>
          <a:prstGeom prst="roundRect">
            <a:avLst>
              <a:gd name="adj" fmla="val 756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1777" y="4863108"/>
            <a:ext cx="1802462" cy="225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Venues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041777" y="5148263"/>
            <a:ext cx="2365415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 information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838" y="5581253"/>
            <a:ext cx="10910019" cy="762099"/>
          </a:xfrm>
          <a:prstGeom prst="roundRect">
            <a:avLst>
              <a:gd name="adj" fmla="val 7569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4503" y="5724922"/>
            <a:ext cx="1802462" cy="225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Player Stats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84503" y="6010077"/>
            <a:ext cx="10622689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metrics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3598"/>
            <a:ext cx="5075111" cy="55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Foundational Queries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425" y="1321395"/>
            <a:ext cx="6315909" cy="20370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7730" y="1510506"/>
            <a:ext cx="3209745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Query 1 — Total Matches Played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07730" y="1881287"/>
            <a:ext cx="586149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Counts the total number of matches recorded in the database using a simple aggregate on the matches table.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907730" y="2570659"/>
            <a:ext cx="5861499" cy="598686"/>
          </a:xfrm>
          <a:prstGeom prst="roundRect">
            <a:avLst>
              <a:gd name="adj" fmla="val 11934"/>
            </a:avLst>
          </a:prstGeom>
          <a:solidFill>
            <a:srgbClr val="F2F2F2"/>
          </a:solidFill>
          <a:ln/>
        </p:spPr>
      </p:sp>
      <p:sp>
        <p:nvSpPr>
          <p:cNvPr id="8" name="Shape 4"/>
          <p:cNvSpPr/>
          <p:nvPr/>
        </p:nvSpPr>
        <p:spPr>
          <a:xfrm>
            <a:off x="899296" y="2570659"/>
            <a:ext cx="5878365" cy="598686"/>
          </a:xfrm>
          <a:prstGeom prst="roundRect">
            <a:avLst>
              <a:gd name="adj" fmla="val 4262"/>
            </a:avLst>
          </a:prstGeom>
          <a:solidFill>
            <a:srgbClr val="F2F2F2"/>
          </a:solidFill>
          <a:ln/>
        </p:spPr>
      </p:sp>
      <p:sp>
        <p:nvSpPr>
          <p:cNvPr id="9" name="Text 5"/>
          <p:cNvSpPr/>
          <p:nvPr/>
        </p:nvSpPr>
        <p:spPr>
          <a:xfrm>
            <a:off x="1111917" y="2740720"/>
            <a:ext cx="545312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total_matches FROM matches;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425" y="3511550"/>
            <a:ext cx="6315909" cy="28127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7730" y="3700661"/>
            <a:ext cx="3854850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Query 2 — Match Winners with Venue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907730" y="4071441"/>
            <a:ext cx="586149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Joins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matches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teams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venues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map every winning team to its venue — revealing venue-wise dominance patterns.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907730" y="4760813"/>
            <a:ext cx="5861499" cy="1374378"/>
          </a:xfrm>
          <a:prstGeom prst="roundRect">
            <a:avLst>
              <a:gd name="adj" fmla="val 5199"/>
            </a:avLst>
          </a:prstGeom>
          <a:solidFill>
            <a:srgbClr val="F2F2F2"/>
          </a:solidFill>
          <a:ln/>
        </p:spPr>
      </p:sp>
      <p:sp>
        <p:nvSpPr>
          <p:cNvPr id="14" name="Shape 9"/>
          <p:cNvSpPr/>
          <p:nvPr/>
        </p:nvSpPr>
        <p:spPr>
          <a:xfrm>
            <a:off x="899296" y="4760813"/>
            <a:ext cx="5878365" cy="1374378"/>
          </a:xfrm>
          <a:prstGeom prst="roundRect">
            <a:avLst>
              <a:gd name="adj" fmla="val 1857"/>
            </a:avLst>
          </a:prstGeom>
          <a:solidFill>
            <a:srgbClr val="F2F2F2"/>
          </a:solidFill>
          <a:ln/>
        </p:spPr>
      </p:sp>
      <p:sp>
        <p:nvSpPr>
          <p:cNvPr id="15" name="Text 10"/>
          <p:cNvSpPr/>
          <p:nvPr/>
        </p:nvSpPr>
        <p:spPr>
          <a:xfrm>
            <a:off x="1111917" y="4930874"/>
            <a:ext cx="5453125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m.match_id, t.team_name AS winner, v.venue_name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matches m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 teams t ON m.winner_team_id = t.team_id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 venues v ON m.venue_id = v.venue_id;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2964"/>
            <a:ext cx="690833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Aggregate Function Queries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265660"/>
            <a:ext cx="326481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Query 3 — Total Players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1475" y="2764730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Counts the total number of player records to establish the dataset's scale.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582194"/>
            <a:ext cx="5203794" cy="982861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652049" y="3582194"/>
            <a:ext cx="5222645" cy="982861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888283" y="3771205"/>
            <a:ext cx="47501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</a:t>
            </a:r>
            <a:r>
              <a:rPr lang="en-US" sz="1450" dirty="0" err="1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total_matches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matches;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2265660"/>
            <a:ext cx="421718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Query 4 — Total Runs per Player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332776" y="2764730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runs across all matches per player, ordered descending to rank batsmen by cumulative output.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32776" y="3582194"/>
            <a:ext cx="5203794" cy="1890117"/>
          </a:xfrm>
          <a:prstGeom prst="roundRect">
            <a:avLst>
              <a:gd name="adj" fmla="val 4200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23350" y="3582194"/>
            <a:ext cx="5222645" cy="1890117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559584" y="3771205"/>
            <a:ext cx="475017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p.player_name, SUM(ps.runs) AS total_runs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player_stats ps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 players p ON ps.player_id = p.player_id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p.player_name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total_runs DESC;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12723" y="531713"/>
            <a:ext cx="5243580" cy="480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Wickets &amp; Top Run-Scorer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93674" y="1182688"/>
            <a:ext cx="6357183" cy="25149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35365" y="1348184"/>
            <a:ext cx="3060723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Query 5 — Total Wickets per Player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435365" y="1656556"/>
            <a:ext cx="5950000" cy="41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wickets across all matches per bowler, ranked in descending order to identify the most effective wicket-takers.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5435365" y="2199977"/>
            <a:ext cx="5950000" cy="1332210"/>
          </a:xfrm>
          <a:prstGeom prst="roundRect">
            <a:avLst>
              <a:gd name="adj" fmla="val 4618"/>
            </a:avLst>
          </a:prstGeom>
          <a:solidFill>
            <a:srgbClr val="F2F2F2"/>
          </a:solidFill>
          <a:ln/>
        </p:spPr>
      </p:sp>
      <p:sp>
        <p:nvSpPr>
          <p:cNvPr id="8" name="Shape 4"/>
          <p:cNvSpPr/>
          <p:nvPr/>
        </p:nvSpPr>
        <p:spPr>
          <a:xfrm>
            <a:off x="5428122" y="2199977"/>
            <a:ext cx="5964485" cy="1332210"/>
          </a:xfrm>
          <a:prstGeom prst="roundRect">
            <a:avLst>
              <a:gd name="adj" fmla="val 1649"/>
            </a:avLst>
          </a:prstGeom>
          <a:solidFill>
            <a:srgbClr val="F2F2F2"/>
          </a:solidFill>
          <a:ln/>
        </p:spPr>
      </p:sp>
      <p:sp>
        <p:nvSpPr>
          <p:cNvPr id="9" name="Text 5"/>
          <p:cNvSpPr/>
          <p:nvPr/>
        </p:nvSpPr>
        <p:spPr>
          <a:xfrm>
            <a:off x="5611176" y="2346424"/>
            <a:ext cx="5598377" cy="10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p.player_name, SUM(ps.wickets) AS total_wickets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player_stats ps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 players p ON ps.player_id = p.player_id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p.player_name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total_wickets DESC;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93674" y="3811191"/>
            <a:ext cx="6357183" cy="25149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35365" y="3976688"/>
            <a:ext cx="2646396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Query 6 — Highest Run Scorer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435365" y="4285059"/>
            <a:ext cx="5950000" cy="41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the single highest run-scorer across the dataset using the same aggregation pattern, ordered by total runs descending.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35365" y="4828480"/>
            <a:ext cx="5950000" cy="1332210"/>
          </a:xfrm>
          <a:prstGeom prst="roundRect">
            <a:avLst>
              <a:gd name="adj" fmla="val 4618"/>
            </a:avLst>
          </a:prstGeom>
          <a:solidFill>
            <a:srgbClr val="F2F2F2"/>
          </a:solidFill>
          <a:ln/>
        </p:spPr>
      </p:sp>
      <p:sp>
        <p:nvSpPr>
          <p:cNvPr id="14" name="Shape 9"/>
          <p:cNvSpPr/>
          <p:nvPr/>
        </p:nvSpPr>
        <p:spPr>
          <a:xfrm>
            <a:off x="5428122" y="4828480"/>
            <a:ext cx="5964485" cy="1332210"/>
          </a:xfrm>
          <a:prstGeom prst="roundRect">
            <a:avLst>
              <a:gd name="adj" fmla="val 1649"/>
            </a:avLst>
          </a:prstGeom>
          <a:solidFill>
            <a:srgbClr val="F2F2F2"/>
          </a:solidFill>
          <a:ln/>
        </p:spPr>
      </p:sp>
      <p:sp>
        <p:nvSpPr>
          <p:cNvPr id="15" name="Text 10"/>
          <p:cNvSpPr/>
          <p:nvPr/>
        </p:nvSpPr>
        <p:spPr>
          <a:xfrm>
            <a:off x="5611176" y="4974927"/>
            <a:ext cx="5598377" cy="10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p.player_name, SUM(ps.runs) AS total_runs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player_stats ps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 players p ON ps.player_id = p.player_id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p.player_name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total_runs DESC;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5673"/>
            <a:ext cx="5807426" cy="55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Performance Queries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66565"/>
            <a:ext cx="3879555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Query 7 — Highest Wicket Taker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1998663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 1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isolate the single most prolific bowler in the dataset.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688034"/>
            <a:ext cx="5226911" cy="1891506"/>
          </a:xfrm>
          <a:prstGeom prst="roundRect">
            <a:avLst>
              <a:gd name="adj" fmla="val 3777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653041" y="2688034"/>
            <a:ext cx="5243778" cy="1891506"/>
          </a:xfrm>
          <a:prstGeom prst="roundRect">
            <a:avLst>
              <a:gd name="adj" fmla="val 1349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65662" y="2858095"/>
            <a:ext cx="4818537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p.player_name, SUM(ps.wickets) AS total_wickets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player_stats ps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 players p ON ps.player_id = p.player_id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p.player_name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total_wickets DESC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 1;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659" y="1566565"/>
            <a:ext cx="3200518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Query 8 — Top 3 Batsmen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309659" y="1998663"/>
            <a:ext cx="522691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Extends the run-scoring query with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 3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surface the three most productive batsmen — a quick leaderboard view for analysts.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659" y="2946598"/>
            <a:ext cx="5226911" cy="1891506"/>
          </a:xfrm>
          <a:prstGeom prst="roundRect">
            <a:avLst>
              <a:gd name="adj" fmla="val 3777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225" y="2946598"/>
            <a:ext cx="5243778" cy="1891506"/>
          </a:xfrm>
          <a:prstGeom prst="roundRect">
            <a:avLst>
              <a:gd name="adj" fmla="val 1349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513846" y="3116659"/>
            <a:ext cx="4818537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p.player_name, SUM(ps.runs) AS total_runs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player_stats ps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 players p ON ps.player_id = p.player_id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p.player_name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total_runs DESC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 3;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5182592"/>
            <a:ext cx="10868745" cy="877491"/>
          </a:xfrm>
          <a:prstGeom prst="roundRect">
            <a:avLst>
              <a:gd name="adj" fmla="val 8142"/>
            </a:avLst>
          </a:prstGeom>
          <a:solidFill>
            <a:srgbClr val="B3E5FF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5417741"/>
            <a:ext cx="212620" cy="17006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14209" y="5362773"/>
            <a:ext cx="101459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foundational SQL queries form the analytical backbone for deeper IPL performance studies — from team comparisons to venue impact assessments.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688" y="259854"/>
            <a:ext cx="3884515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Takeaways &amp; Future Scope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389" y="639564"/>
            <a:ext cx="6390817" cy="5470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57730" y="2271882"/>
            <a:ext cx="2587797" cy="32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Data-Driven Strategy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765681" y="1923924"/>
            <a:ext cx="2146913" cy="64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Quantifiable Performance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703178" y="4487140"/>
            <a:ext cx="1862119" cy="64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Venue Conditions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30688" y="6158309"/>
            <a:ext cx="11861007" cy="10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analysis provides actionable insights for teams, players, and broadcasters. Future enhancements could include predictive modeling for match outcomes and deeper player performance metrics.</a:t>
            </a:r>
            <a:endParaRPr lang="en-US" sz="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88" y="6312098"/>
            <a:ext cx="3843440" cy="3590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0379" y="6713736"/>
            <a:ext cx="1479811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Enhanced Decision Making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20379" y="6886575"/>
            <a:ext cx="3664057" cy="10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insights for team composition and match planning.</a:t>
            </a:r>
            <a:endParaRPr lang="en-US" sz="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4128" y="6312098"/>
            <a:ext cx="3843440" cy="3590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63819" y="6713736"/>
            <a:ext cx="1250026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Deeper Player Scouting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263819" y="6886575"/>
            <a:ext cx="3664057" cy="10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hidden talent and assess player value more accurately.</a:t>
            </a:r>
            <a:endParaRPr lang="en-US" sz="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7567" y="6312098"/>
            <a:ext cx="3843440" cy="3590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07259" y="6713736"/>
            <a:ext cx="1178392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Fan Engagement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8107259" y="6886575"/>
            <a:ext cx="3664057" cy="10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richer statistics and narratives for commentators and fans.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3459-DAF2-EE30-7B15-3AF6F946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5BD8F92-D47A-FCA4-9FA4-419D2916815A}"/>
              </a:ext>
            </a:extLst>
          </p:cNvPr>
          <p:cNvSpPr txBox="1"/>
          <p:nvPr/>
        </p:nvSpPr>
        <p:spPr>
          <a:xfrm>
            <a:off x="4058817" y="2034073"/>
            <a:ext cx="38348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2712525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53</TotalTime>
  <Words>799</Words>
  <Application>Microsoft Office PowerPoint</Application>
  <PresentationFormat>Widescreen</PresentationFormat>
  <Paragraphs>100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Inter</vt:lpstr>
      <vt:lpstr>Wingdings 3</vt:lpstr>
      <vt:lpstr>Petrona Bold</vt:lpstr>
      <vt:lpstr>Arial</vt:lpstr>
      <vt:lpstr>Consolas</vt:lpstr>
      <vt:lpstr>Century Gothic</vt:lpstr>
      <vt:lpstr>Office Theme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Dell</cp:lastModifiedBy>
  <cp:revision>3</cp:revision>
  <dcterms:created xsi:type="dcterms:W3CDTF">2026-06-08T15:13:18Z</dcterms:created>
  <dcterms:modified xsi:type="dcterms:W3CDTF">2026-06-08T16:28:27Z</dcterms:modified>
</cp:coreProperties>
</file>